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395" r:id="rId5"/>
    <p:sldId id="346" r:id="rId6"/>
    <p:sldId id="386" r:id="rId7"/>
    <p:sldId id="392" r:id="rId8"/>
    <p:sldId id="389" r:id="rId9"/>
    <p:sldId id="40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6" r:id="rId20"/>
    <p:sldId id="407" r:id="rId21"/>
    <p:sldId id="408" r:id="rId22"/>
    <p:sldId id="409" r:id="rId23"/>
    <p:sldId id="410" r:id="rId24"/>
    <p:sldId id="411" r:id="rId25"/>
    <p:sldId id="426" r:id="rId26"/>
    <p:sldId id="422" r:id="rId27"/>
    <p:sldId id="423" r:id="rId28"/>
    <p:sldId id="424" r:id="rId29"/>
    <p:sldId id="425" r:id="rId30"/>
    <p:sldId id="436" r:id="rId31"/>
    <p:sldId id="432" r:id="rId32"/>
    <p:sldId id="433" r:id="rId33"/>
    <p:sldId id="434" r:id="rId34"/>
    <p:sldId id="435" r:id="rId35"/>
    <p:sldId id="368" r:id="rId36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5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D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86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6" y="33"/>
      </p:cViewPr>
      <p:guideLst>
        <p:guide orient="horz" pos="2045"/>
        <p:guide pos="37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3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3421174" y="5948457"/>
            <a:ext cx="5377726" cy="519798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dirty="0"/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409077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704715" y="9815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1400" b="1" dirty="0">
                  <a:solidFill>
                    <a:prstClr val="white"/>
                  </a:solidFill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694815" y="2729865"/>
            <a:ext cx="8876030" cy="1414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高性能计算机体系结构模型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第二轮汇报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30"/>
          <p:cNvSpPr txBox="1"/>
          <p:nvPr/>
        </p:nvSpPr>
        <p:spPr>
          <a:xfrm>
            <a:off x="3543681" y="6033862"/>
            <a:ext cx="5079959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汇报人：宋震、张泰然、刘旭昭、苏晓、郭冠男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sz="6600" dirty="0">
                <a:sym typeface="+mn-ea"/>
              </a:rPr>
              <a:t>GPU</a:t>
            </a:r>
            <a:r>
              <a:rPr lang="zh-CN" altLang="en-US" sz="6600" dirty="0">
                <a:sym typeface="+mn-ea"/>
              </a:rPr>
              <a:t>相关架构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GPU</a:t>
            </a:r>
            <a:r>
              <a:rPr lang="zh-CN" altLang="en-US" dirty="0"/>
              <a:t>架构调研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817880" y="3261995"/>
            <a:ext cx="4110990" cy="0"/>
          </a:xfrm>
          <a:prstGeom prst="line">
            <a:avLst/>
          </a:prstGeom>
          <a:ln w="7620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722630" y="3140710"/>
            <a:ext cx="242570" cy="2425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22630" y="1443355"/>
            <a:ext cx="26962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Fermi 架构</a:t>
            </a:r>
            <a:r>
              <a:rPr lang="en-US" altLang="zh-CN" b="1"/>
              <a:t>(2010) GF100</a:t>
            </a:r>
            <a:endParaRPr lang="en-US" altLang="zh-CN" b="1"/>
          </a:p>
          <a:p>
            <a:pPr marL="285750" indent="-285750">
              <a:buFont typeface="Wingdings" panose="05000000000000000000" charset="0"/>
              <a:buChar char="l"/>
            </a:pPr>
            <a:r>
              <a:t>首款支持与共享存储结合纯 </a:t>
            </a:r>
            <a:r>
              <a:rPr lang="en-US"/>
              <a:t>C</a:t>
            </a:r>
            <a:r>
              <a:t>ache 层次的 GPU 架构，也是支持 ECC 的 GPU 架构。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1" name="椭圆 10"/>
          <p:cNvSpPr/>
          <p:nvPr/>
        </p:nvSpPr>
        <p:spPr>
          <a:xfrm>
            <a:off x="1793240" y="3140710"/>
            <a:ext cx="242570" cy="2425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-10160" y="3604260"/>
            <a:ext cx="26962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Tesla</a:t>
            </a:r>
            <a:r>
              <a:rPr lang="zh-CN" altLang="en-US" b="1"/>
              <a:t> 架构</a:t>
            </a:r>
            <a:r>
              <a:rPr lang="en-US" altLang="zh-CN" b="1"/>
              <a:t>(2008) G80</a:t>
            </a:r>
            <a:endParaRPr lang="en-US" altLang="zh-CN" b="1"/>
          </a:p>
          <a:p>
            <a:pPr marL="285750" indent="-285750">
              <a:buFont typeface="Wingdings" panose="05000000000000000000" charset="0"/>
              <a:buChar char="l"/>
            </a:pPr>
            <a:r>
              <a:t>英伟达第一个实现统一着色器模型的微架构，支持 C 语言编程，引入了单指令多线程（SIMT）执行模型，大大提高了 GPU 的并行处理能力。</a:t>
            </a:r>
          </a:p>
        </p:txBody>
      </p:sp>
      <p:sp>
        <p:nvSpPr>
          <p:cNvPr id="13" name="椭圆 12"/>
          <p:cNvSpPr/>
          <p:nvPr/>
        </p:nvSpPr>
        <p:spPr>
          <a:xfrm>
            <a:off x="3823970" y="3140710"/>
            <a:ext cx="242570" cy="2425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686050" y="3604260"/>
            <a:ext cx="269621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Kepler</a:t>
            </a:r>
            <a:r>
              <a:rPr lang="zh-CN" altLang="en-US" b="1"/>
              <a:t> 架构</a:t>
            </a:r>
            <a:r>
              <a:rPr lang="en-US" altLang="zh-CN" b="1"/>
              <a:t>(2012) GTX680</a:t>
            </a:r>
            <a:endParaRPr lang="en-US" altLang="zh-CN" b="1"/>
          </a:p>
          <a:p>
            <a:pPr marL="285750" indent="-285750">
              <a:buFont typeface="Wingdings" panose="05000000000000000000" charset="0"/>
              <a:buChar char="l"/>
            </a:pPr>
            <a:r>
              <a:t>采用了全新的 SMX 单元，内部的 CUDA Core 数量大幅增加，引入了 GPU Boost 技术，这是一种动态超频技术，能够根据 GPU 的负载情况自动调整核心频率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5382260" y="3261995"/>
            <a:ext cx="3748405" cy="0"/>
          </a:xfrm>
          <a:prstGeom prst="line">
            <a:avLst/>
          </a:prstGeom>
          <a:ln w="7620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5854700" y="3140710"/>
            <a:ext cx="242570" cy="2425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7591425" y="3140710"/>
            <a:ext cx="242570" cy="2425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985885" y="3140710"/>
            <a:ext cx="242570" cy="2425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279265" y="1387475"/>
            <a:ext cx="31699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Turing</a:t>
            </a:r>
            <a:r>
              <a:rPr lang="zh-CN" altLang="en-US" b="1"/>
              <a:t> 架构</a:t>
            </a:r>
            <a:r>
              <a:rPr lang="en-US" altLang="zh-CN" b="1"/>
              <a:t>(2018) GTX2080</a:t>
            </a:r>
            <a:endParaRPr lang="en-US" altLang="zh-CN" b="1"/>
          </a:p>
          <a:p>
            <a:pPr marL="285750" indent="-285750">
              <a:buFont typeface="Wingdings" panose="05000000000000000000" charset="0"/>
              <a:buChar char="l"/>
            </a:pPr>
            <a:r>
              <a:t>配备了RT Core 专用光线追踪处理器</a:t>
            </a:r>
            <a:r>
              <a:rPr lang="en-US"/>
              <a:t>,同时，还引入了深度学习超采样（DLSS）技术，通过人工智能算法提高图像的渲染质量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5854700" y="3604260"/>
            <a:ext cx="28981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Hopper</a:t>
            </a:r>
            <a:r>
              <a:rPr lang="zh-CN" altLang="en-US" b="1"/>
              <a:t> 架构</a:t>
            </a:r>
            <a:r>
              <a:rPr lang="en-US" altLang="zh-CN" b="1"/>
              <a:t>(2022) H100</a:t>
            </a:r>
            <a:endParaRPr lang="en-US" altLang="zh-CN" b="1"/>
          </a:p>
          <a:p>
            <a:pPr marL="285750" indent="-285750">
              <a:buFont typeface="Wingdings" panose="05000000000000000000" charset="0"/>
              <a:buChar char="l"/>
            </a:pPr>
            <a:r>
              <a:t>对 Tensor Core 进行了进一步优化，提高了其在深度学习任务中的性能和效率。还引入了一些新的技术和功能，如异步数据传输、多实例 GPU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985885" y="1134745"/>
            <a:ext cx="3169920" cy="536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Blackwell</a:t>
            </a:r>
            <a:r>
              <a:rPr lang="zh-CN" altLang="en-US" b="1"/>
              <a:t> 架构</a:t>
            </a:r>
            <a:r>
              <a:rPr lang="en-US" altLang="zh-CN" b="1"/>
              <a:t>(2024) GB200</a:t>
            </a:r>
            <a:endParaRPr lang="en-US" altLang="zh-CN" b="1"/>
          </a:p>
          <a:p>
            <a:pPr marL="285750" indent="-285750">
              <a:buFont typeface="Wingdings" panose="05000000000000000000" charset="0"/>
              <a:buChar char="l"/>
            </a:pPr>
            <a:r>
              <a:t>相较于 Hopper 架构，Blackwell 集成双 die，面积增大，晶体管数量剧增，计算力更强。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t>其第二代 Transformer 引擎融合新微张量缩放与先进算法及相关框架，使 FP4 精度 AI 推理能力大增。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t>第五代 NVLink，单 GPU 双向带宽 1.8TB/s，支持 576 个 GPU 高速互联，契合复杂大语言模型。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t>有 RAS 引擎以 AI 预防维护诊断预测，延时长、增弹性、降成本。具机密计算护模型数据，解压缩引擎加速查询，助力数据分析与数据科学达高性能。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GPU-Tensor Core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21665" y="1043305"/>
            <a:ext cx="10490835" cy="5196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  <a:endParaRPr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 Core的设计专注于高效的矩阵乘法，特别是在深度学习中的应用。Tensor Core通过优化这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操作，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显著提升计算效率</a:t>
            </a:r>
            <a:r>
              <a:rPr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。它可以在一个时钟周期内并行执行多个浮点操作，从而大幅度</a:t>
            </a:r>
            <a:r>
              <a:rPr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提高了计算吞吐量</a:t>
            </a:r>
            <a:r>
              <a:rPr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混合精度计算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FP16：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浮点16位，适用于训练加速。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FP32：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浮点32位，适用于更高精度的计算。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TF32：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 Float 32，一种NVIDIA定义的新的浮点精度，提供了FP32和FP16之间的性能和精度平衡。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Bfloat16：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一种16位浮点精度，广泛用于机器学习训练，特别是在Google的TPU中。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GPU-Tensor Core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621665" y="3328670"/>
            <a:ext cx="10490835" cy="2787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多级并行性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多级流水线：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每个Tensor Core能够同时进行多个不同类型的计算任务。这种多级流水线设计使得Tensor Core能够高效地利用GPU的计算资源。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数据流控制：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 Core在数据流的控制方面也进行了优化，能够更高效地调度数据，确保数据在执行过程中不会成为瓶颈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1665" y="541655"/>
            <a:ext cx="10490835" cy="2787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高度并行化计算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并行性：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在一个时钟周期内，Tensor Core能够执行</a:t>
            </a:r>
            <a:r>
              <a:rPr 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多个浮点或整数运算操作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。这使得它能够在处理大规模矩阵运算时显著提高吞吐量。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矩阵运算加速：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 Core专门为加速矩阵乘法（GEMM）和卷积运算等深度学习中常见的计算任务设计。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40000"/>
              </a:lnSpc>
              <a:buFont typeface="Wingdings" panose="05000000000000000000" charset="0"/>
              <a:buChar char="l"/>
            </a:pP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2085" y="3128645"/>
            <a:ext cx="11814810" cy="3445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Tensor Core的优势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性能提升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：通过使用Tensor Core，NVIDIA的GPU可以大幅提升深度学习模型的训练速度，尤其在大型数据集和复杂模型（如Transformer模型）训练时。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混合精度计算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：Tensor Core支持混合精度计算（如FP16、TF32、Bfloat16），能够在保证足够精度的同时，显著提升性能。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并行计算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：Tensor Core能够在单个时钟周期内进行多个矩阵运算，因此非常适合并行处理大规模的深度学习任务。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1665" y="541655"/>
            <a:ext cx="10490835" cy="2787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低延迟与实时推理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低延迟加速推理：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 Core能够通过快速处理矩阵运算，显著降低推理延迟，提供实时的AI推理能力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AI推理加速：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 Core在处理大规模推理任务时，特别是在推理模型部署中，提供了高效的加速支持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40000"/>
              </a:lnSpc>
              <a:buFont typeface="Wingdings" panose="05000000000000000000" charset="0"/>
              <a:buChar char="l"/>
            </a:pP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GPU-Tensor Core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745490" y="3246755"/>
            <a:ext cx="9518650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sz="6600" dirty="0">
                <a:sym typeface="+mn-ea"/>
              </a:rPr>
              <a:t>NPU</a:t>
            </a:r>
            <a:r>
              <a:rPr lang="zh-CN" altLang="en-US" sz="6600" dirty="0">
                <a:sym typeface="+mn-ea"/>
              </a:rPr>
              <a:t>及相关架构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NPU-IANUS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20864" y="2234996"/>
            <a:ext cx="109060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IANUS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是一个为处理大规模神经网络，特别是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LLMs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）优化的统一计算架构，它结合了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神经网络处理单元（</a:t>
            </a:r>
            <a:r>
              <a:rPr lang="en-US" altLang="zh-CN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存算一体系统（</a:t>
            </a:r>
            <a:r>
              <a:rPr lang="en-US" altLang="zh-CN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，旨在通过高效的内存管理、计算资源调度和任务映射技术，实现更高的计算吞吐量和更低的延迟。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NPU-IANUS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85270" y="1172212"/>
            <a:ext cx="11862428" cy="317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实现细节：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统一的内存架构：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同一物理内存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，而不是分开使用不同的内存。这种设计减少了数据复制的需求，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在执行复杂计算时，能够直接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操作内存中的数据</a:t>
            </a:r>
            <a:endParaRPr lang="en-US" altLang="zh-CN" sz="2000" b="1" dirty="0">
              <a:solidFill>
                <a:srgbClr val="DE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控制单元（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PCU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 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PCU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通过将宏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命令分解为多个微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内存控制器（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 MC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： 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 MC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负责追踪内存状态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-on-chip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err="1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NoC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）：提供了高带宽的通信机制，支持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核心与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内存控制器之间的全互联通信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688" y="3917338"/>
            <a:ext cx="9670312" cy="2401087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NPU-IANUS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06054" y="999761"/>
            <a:ext cx="6681555" cy="5300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访问调度（</a:t>
            </a:r>
            <a:r>
              <a:rPr lang="en-US" alt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负责调度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之间的内存访问任务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自适应映射算法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（全连接层）操作的最佳执行单元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高效的多头注意力（</a:t>
            </a:r>
            <a:r>
              <a:rPr lang="en-US" alt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MHA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）调度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多头注意力是计算的核心，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IANUS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通过两种阶段的调度来优化多头注意力的执行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总结阶段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zh-CN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内跨注意力头并行性</a:t>
            </a: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注意力头间流水线技术</a:t>
            </a: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来加速计算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生成阶段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避免了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资源冲突</a:t>
            </a:r>
            <a:r>
              <a:rPr lang="zh-CN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，同时确保计算并行性最大化。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263" y="4310445"/>
            <a:ext cx="4133339" cy="166542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818" y="942051"/>
            <a:ext cx="3753550" cy="3355447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NPU-IANUS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85270" y="1172212"/>
            <a:ext cx="11862428" cy="410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内存地址映射与行列优化：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内存地址映射采用了</a:t>
            </a:r>
            <a:r>
              <a:rPr lang="en-US" altLang="zh-CN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Row-Channel-Bank-Column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的顺序，确保数据的存储和计算具有最优的局部性和并行性。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行地址：保证数据在同一行内进行计算，从而减少行冲突。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列地址：通过列地址的映射，确保每一行的所有元素由同一处理单元进行处理。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Channel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：将频道和银行分配给不同的计算单元，充分利用内存的并行性进行计算，避免了资源冲突。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492" y="3957933"/>
            <a:ext cx="7335274" cy="2486372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Intel AMX Architecture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0106" y="1465825"/>
            <a:ext cx="10906067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加速矩阵运算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而引入的一种新的硬件扩展，专门针对深度学习和其他高性能计算任务进行了优化。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首次出现在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Sapphire Rapids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（第四代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Xeon Scalable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）处理器中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Intel AMX Architecture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0" y="932048"/>
            <a:ext cx="706327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矩阵乘法加速：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AMX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通过增加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矩阵处理单元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，可以比传统的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指令集更高效地执行这些任务。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硬件支持：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AMX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提供了一组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新的指令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，这些指令直接在硬件中实现矩阵乘法和累加。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Tile-based Execution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AMX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采用了基于“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Tile”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的执行模式。每个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可以看作是一个矩阵块，这使得矩阵运算能够被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分割成更小的部分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来并行处理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高效利用内存带宽：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AMX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能够通过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局部存储优化内存访问模式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，减少内存瓶颈，提高数据流的效率。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076" y="1379668"/>
            <a:ext cx="4195257" cy="4548040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Intel AMX Architecture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0106" y="1465825"/>
            <a:ext cx="10906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759689" y="2127544"/>
          <a:ext cx="9183336" cy="3762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4830"/>
                <a:gridCol w="6348506"/>
              </a:tblGrid>
              <a:tr h="316445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Instruction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Description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/>
                </a:tc>
              </a:tr>
              <a:tr h="316445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LDTILECFG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Load Tile Configuration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28575" marB="28575" anchor="ctr"/>
                </a:tc>
              </a:tr>
              <a:tr h="316445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STTILECFG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 Tile Configuration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28575" marB="28575" anchor="ctr"/>
                </a:tc>
              </a:tr>
              <a:tr h="836152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TDPBF16PS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Dot Product of BF16 Tiles Accumulated into Packed Single</a:t>
                      </a:r>
                      <a:b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 Tile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28575" marB="28575" anchor="ctr"/>
                </a:tc>
              </a:tr>
              <a:tr h="575533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TDPBSSD/TDPBSUD/TDPBUSD/TDPBUUD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Dot Product of Signed/Unsigned Bytes with 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Dword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Accumulation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28575" marB="28575" anchor="ctr"/>
                </a:tc>
              </a:tr>
              <a:tr h="316445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TILELOADD/TILELOADDT1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Load Tile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28575" marB="28575" anchor="ctr"/>
                </a:tc>
              </a:tr>
              <a:tr h="316445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TILERELEASE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Release Tile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28575" marB="28575" anchor="ctr"/>
                </a:tc>
              </a:tr>
              <a:tr h="316445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TILESTORED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 Tile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28575" marB="28575" anchor="ctr"/>
                </a:tc>
              </a:tr>
              <a:tr h="316445"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TILEZERO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28575" marB="285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Zero Tile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28575" marB="28575" anchor="ctr"/>
                </a:tc>
              </a:tr>
            </a:tbl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Intel TMUL Architecture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0106" y="1465825"/>
            <a:ext cx="109060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TMUL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 Multiply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）架构是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为加速</a:t>
            </a:r>
            <a:r>
              <a:rPr lang="en-US" altLang="zh-CN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（尤其是在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和机器学习应用中）的另一种硬件扩展。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Intel TMUL Architecture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26312" y="1442411"/>
            <a:ext cx="1044117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 Multiply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TMUL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架构为</a:t>
            </a:r>
            <a:r>
              <a:rPr lang="en-US" altLang="zh-CN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（如卷积操作）提供了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专门的指令集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，通过硬件加速深度学习推理和训练中的矩阵和张量运算。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矩阵乘法优化：优化了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内存访问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并行计算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，以加速大规模的矩阵运算和张量计算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高并行性和吞吐量：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TMUL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能够在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多个核心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和线程中高效并行处理大规模的矩阵运算，提升了吞吐量并降低了延迟。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加速兼容：在利用</a:t>
            </a:r>
            <a:r>
              <a:rPr lang="zh-CN" altLang="en-US" sz="2000" b="1" dirty="0">
                <a:solidFill>
                  <a:srgbClr val="D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TensorFlow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）时，能够显著提高性能。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CXL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及其相关工作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Compute Express Link (CXL)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55966" y="1237108"/>
            <a:ext cx="10906067" cy="538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PCIe 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DDR 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的问题：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DMA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带来的不一致性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设备自带的存储器无法被纳入到可缓存地址空间</a:t>
            </a:r>
            <a:endParaRPr 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跨主机设备共享粒度粗</a:t>
            </a:r>
            <a:endParaRPr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主用贡献：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PCIe 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之上建立统一的抽象层，并兼容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PCIe 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DDR 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的硬件逻辑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CC-NUMA 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提供硬件上的缓存一致性支持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目前主流的版本有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CXL1.1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CXL2.0 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CXL3.0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分别针对单主机、多主机、大规模多机系统给出了实现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CXL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的相关工作与历史沿途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97025" y="1246571"/>
            <a:ext cx="10906067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 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对称性互联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各设备算法一致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QPI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UPI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、Infinity Fabric、Bluelink、NVLink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 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对称互联的问题</a:t>
            </a:r>
            <a:endParaRPr lang="zh-CN" altLang="en-US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并非所有设备都需要缓存一致性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DDR 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存储器带宽跟不上带宽需求的增长：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DIMM 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PIM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来自于同一外设的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PIM 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难以被其他外设利用，造成资源闲置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CXL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DMA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97025" y="1246571"/>
            <a:ext cx="10906067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 DMA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支持传统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PCIe 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的非一致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DMA</a:t>
            </a: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引入写回缓存、允许设备通过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DMA 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获得一致性访存</a:t>
            </a:r>
            <a:endParaRPr lang="zh-CN" altLang="en-US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引入缓存代理机制：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HDM-H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HDM-D</a:t>
            </a: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510" y="3576955"/>
            <a:ext cx="707898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CXL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子协议逻辑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3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8620" y="1134745"/>
            <a:ext cx="8942070" cy="2366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4190" y="3639820"/>
            <a:ext cx="871156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CXL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历史沿途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8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205" y="3584575"/>
            <a:ext cx="8883650" cy="25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755966" y="1237108"/>
            <a:ext cx="10906067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 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历史沿途：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CXL1.0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：单机系统，引入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io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等子协议</a:t>
            </a:r>
            <a:endParaRPr lang="zh-CN" altLang="en-US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CXL2.0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：单层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</a:t>
            </a:r>
            <a:endParaRPr lang="zh-CN" altLang="en-US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CXL3.0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：多层</a:t>
            </a:r>
            <a:r>
              <a:rPr lang="en-US" altLang="zh-CN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</a:t>
            </a:r>
            <a:r>
              <a:rPr lang="zh-CN" altLang="en-US" sz="24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</a:t>
            </a:r>
            <a:endParaRPr lang="zh-CN" altLang="en-US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虚拟化技术相关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zh-CN" altLang="en-US" dirty="0"/>
              <a:t>虚拟化</a:t>
            </a:r>
            <a:r>
              <a:rPr lang="zh-CN" altLang="en-US" dirty="0"/>
              <a:t>技术</a:t>
            </a:r>
            <a:endParaRPr lang="zh-CN" alt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20864" y="1038021"/>
            <a:ext cx="10906067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在传统的HPC集群中，虚拟化技术常常被认为是一个负担，因为虚拟化层会引入额外的开销，影响计算密集型应用的性能。然而，随着技术的发展，虚拟化在HPC中的使用场景逐渐增多，尤其是在以下几个方面：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资源隔离与管理：虚拟化能够有效地隔离不同用户或任务的资源，尤其是在共享集群的多租户环境中。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弹性扩展与动态资源调度：虚拟化技术可以通过动态分配计算资源来应对工作负载波动，从而提高集群的灵活性和资源利用率。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集群管理与维护：虚拟化技术可以简化集群的管理和维护，比如简化节点的故障恢复、系统升级等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zh-CN" altLang="en-US" dirty="0"/>
              <a:t>容器</a:t>
            </a:r>
            <a:r>
              <a:rPr lang="zh-CN" altLang="en-US" dirty="0"/>
              <a:t>虚拟化</a:t>
            </a:r>
            <a:endParaRPr lang="zh-CN" altLang="en-US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20864" y="812596"/>
            <a:ext cx="10906067" cy="6092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介绍：</a:t>
            </a:r>
            <a:endParaRPr lang="en-US" altLang="zh-CN"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虚拟化是近年来在HPC领域逐渐流行的技术。与传统虚拟机不同，容器不需要模拟硬件，且共享宿主操作系统的内核，因而更加轻量。容器技术在HPC中的应用可以提供更低的开销、更好的资源利用率和更高的灵活性。常见的容器虚拟化技术有：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Docker：通过封装应用及其依赖，提供轻量的隔离环境，适用于部署高效、可移植的HPC应用。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ularity：专为HPC和科学计算设计的容器化工具，它支持在HPC集群中运行容器，避免了对虚拟机带来的性能损失，同时提供与Docker类似的容器化功能。Singularity能够与现有的HPC调度系统（如SLURM）无缝集成，是HPC环境中的热门选择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Podman：与Docker类似，但它不依赖于守护进程，因此在某些集群环境中具有更高的安全性和效率。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虚拟化网络和存储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54899" y="1002301"/>
            <a:ext cx="6681555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在HPC集群中，存储和网络的虚拟化至关重要，因为高效的数据传输和存储管理是提高性能的关键。以下是常见的虚拟化技术：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软件定义存储 (SDS)：通过虚拟化存储资源，动态分配和管理存储空间。常见的SDS技术有Ceph、GlusterFS等。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虚拟化网络 (SDN)：软件定义网络可以帮助更灵活地管理和调度HPC集群中的网络资源，特别是在集群规模较大时，SDN能够实现高效的网络流量管理和负载均衡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5"/>
          <a:stretch>
            <a:fillRect/>
          </a:stretch>
        </p:blipFill>
        <p:spPr>
          <a:xfrm>
            <a:off x="7165340" y="1104900"/>
            <a:ext cx="4496435" cy="22650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7745" y="3481705"/>
            <a:ext cx="4206240" cy="3102610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dirty="0"/>
              <a:t>HPC虚拟化管理平台</a:t>
            </a:r>
            <a:endParaRPr lang="en-US" altLang="zh-CN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85270" y="1172212"/>
            <a:ext cx="11862428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OpenStack：作为一个开源的云计算平台，OpenStack能够管理计算、存储和网络资源。通过与HPC调度系统（如Slurm）的集成，OpenStack可以实现对HPC集群的虚拟化管理。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Slurm：Slurm是广泛使用的HPC集群调度系统，它可以与虚拟化技术（如KVM、Docker）集成，支持虚拟化资源的调度和管理。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PBS (Portable Batch System)：另一个广泛应用于HPC集群管理的调度系统，支持虚拟化技术的集成和资源管理。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05</a:t>
            </a:r>
            <a:endParaRPr kumimoji="0" lang="en-US" altLang="zh-CN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Cluster&amp;MPP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Cluster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21665" y="1043305"/>
            <a:ext cx="10490835" cy="5196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 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Cluster架构是一种分布式计算环境，通过多个节点共同完成计算任务。这些节点通过高速网络互联，共享数据和任务。</a:t>
            </a:r>
            <a:endParaRPr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不共享内存与共享磁盘架构：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Cluster通常不共享内存，每个节点都有自己的内存。共享磁盘架构可以通过集中化的存储设备提升数据一致性，但可能存在I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/O</a:t>
            </a: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瓶颈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负载均衡：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Cluster系统通过调度算法实现动态负载均衡，提高资源利用率。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扩展性：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Cluster可以通过增加节点数量实现横向扩展，但网络带宽和节点间通信复杂度可能成为瓶颈。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连接网络：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以太网和InfiniBand是Cluster系统的常见选择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Cluster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介绍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621665" y="3328670"/>
            <a:ext cx="10490835" cy="2787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IEEE Cluster 2022和2023会议重点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HPC和大数据应用在大规模集群上的研究、HPC和大数据集群的架构、能源效率集群架构、加速器和特定领域硬件、异构集群、互联/内存架构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集群计算环境需要解决的关键挑战之一是如何实现可扩展性和效率。这包括系统架构设计、软件堆栈的先进功能、系统管理和监控，以及算法、方法和应用的设计。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1665" y="541655"/>
            <a:ext cx="10490835" cy="2787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集群计算在大数据和HPC中的应用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集群计算在高性能计算（HPC）和大数据应用中扮演着核心角色。这些应用包括科学模拟、数据分析、机器学习等。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例如，集群可以用于执行复杂的气候模拟，这需要大量的计算资源和高效的数据处理能力。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MPP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21665" y="1043305"/>
            <a:ext cx="10490835" cy="5196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MPP </a:t>
            </a:r>
            <a:r>
              <a:rPr lang="zh-CN" altLang="en-US" sz="24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sz="24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r>
              <a:rPr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MPP（大规模并行处理）架构通过将计算任务分解成多个子任务并行执行，以实现高效的数据处理能力。每个处理节点独立完成其任务，并通过高速网络协调。</a:t>
            </a:r>
            <a:endParaRPr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微软雅黑" panose="020B0503020204020204" pitchFamily="34" charset="-122"/>
              <a:buChar char="–"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自动数据分片：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MPP系统会将大规模数据集切分成多个小块，并分配到不同节点进行处理。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节点独立性：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每个节点都有自己的处理器、内存和存储，避免了共享存储带来的瓶颈。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高并行度：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通过同时运行多个任务，大幅度提高了计算效率。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互联网络体系：</a:t>
            </a: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MPP系统依赖于低延迟、高带宽的网络连接，例如光纤以太网和InfiniBand，以支持节点间的高效通信。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7533076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MPP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新兴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方向</a:t>
            </a:r>
            <a:endParaRPr lang="zh-CN" altLang="en-US" noProof="0" dirty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621665" y="3135630"/>
            <a:ext cx="10490835" cy="2787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绿色超级计算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集成能源管理模块，实时监控计算任务的功耗，并通过调整工作频率和电压达到节能效果</a:t>
            </a:r>
            <a:r>
              <a:rPr lang="en-US" alt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.Frontier 超算系统通过液冷技术和低功耗芯片，成为目前世界上最高效的超级计算机之一，其性能功耗比领先同类系统 30%以上.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研究如何在算法和硬件设计阶段考虑碳排放，优化硬件能效的同时，减少长期的环境影响。</a:t>
            </a: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1665" y="466090"/>
            <a:ext cx="10490835" cy="2787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0">
              <a:lnSpc>
                <a:spcPct val="150000"/>
              </a:lnSpc>
              <a:buFont typeface="微软雅黑" panose="020B0503020204020204" pitchFamily="34" charset="-122"/>
              <a:buNone/>
            </a:pPr>
            <a:endParaRPr lang="en-US" alt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sz="2000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驱动的 MPP 系统优化</a:t>
            </a:r>
            <a:endParaRPr lang="zh-CN" sz="2000" b="1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 AI 模型实时预测计算节点的负载，动态调整任务分配。例如，使用强化学习优化任务调度，避免因节点过载导致性能瓶颈</a:t>
            </a:r>
            <a:endParaRPr lang="zh-CN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模型可以分析工作负载的模式并预测未来的数据需求，从而智能分配缓存资源，减少内存访问延迟。</a:t>
            </a:r>
            <a:endParaRPr lang="zh-CN" altLang="en-US" sz="200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45" y="116631"/>
            <a:ext cx="11809308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汇报人：小邱小邱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指导老师：大邱大邱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dirty="0"/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lang="en-US" altLang="zh-CN" dirty="0"/>
              <a:t>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79975" y="11314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18" name="文本占位符 24"/>
          <p:cNvSpPr txBox="1"/>
          <p:nvPr/>
        </p:nvSpPr>
        <p:spPr>
          <a:xfrm>
            <a:off x="191347" y="2324320"/>
            <a:ext cx="11809308" cy="1415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汇报结束  感谢倾听</a:t>
            </a:r>
            <a:r>
              <a:rPr kumimoji="0" lang="zh-CN" altLang="en-US" sz="72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567608" y="3888438"/>
            <a:ext cx="69127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9657" y="4040776"/>
            <a:ext cx="8112685" cy="734387"/>
          </a:xfrm>
          <a:prstGeom prst="rect">
            <a:avLst/>
          </a:prstGeom>
        </p:spPr>
      </p:pic>
      <p:sp>
        <p:nvSpPr>
          <p:cNvPr id="2" name="平行四边形 1"/>
          <p:cNvSpPr/>
          <p:nvPr/>
        </p:nvSpPr>
        <p:spPr>
          <a:xfrm>
            <a:off x="3504654" y="5927402"/>
            <a:ext cx="5377726" cy="519798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3" name="文本占位符 30"/>
          <p:cNvSpPr txBox="1"/>
          <p:nvPr/>
        </p:nvSpPr>
        <p:spPr>
          <a:xfrm>
            <a:off x="3718941" y="6033862"/>
            <a:ext cx="5079959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汇报人：宋震、张泰然、刘旭昭、苏晓、郭冠男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2VlYzNhYzFkZmVlNmFkZmIwNzgyZTFjN2Y1YmM2OTI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6833</Words>
  <Application>WPS 演示</Application>
  <PresentationFormat>宽屏</PresentationFormat>
  <Paragraphs>456</Paragraphs>
  <Slides>33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Arial</vt:lpstr>
      <vt:lpstr>宋体</vt:lpstr>
      <vt:lpstr>Wingdings</vt:lpstr>
      <vt:lpstr>DejaVu Sans</vt:lpstr>
      <vt:lpstr>Calibri</vt:lpstr>
      <vt:lpstr>微软雅黑</vt:lpstr>
      <vt:lpstr>方正黑体_GBK</vt:lpstr>
      <vt:lpstr>等线</vt:lpstr>
      <vt:lpstr>Arial Black</vt:lpstr>
      <vt:lpstr>Wingdings</vt:lpstr>
      <vt:lpstr>宋体</vt:lpstr>
      <vt:lpstr>Arial Unicode MS</vt:lpstr>
      <vt:lpstr>方正书宋_GBK</vt:lpstr>
      <vt:lpstr>汉仪中圆B5</vt:lpstr>
      <vt:lpstr>Times New Roman</vt:lpstr>
      <vt:lpstr>Symbol Neu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GGN_2015</cp:lastModifiedBy>
  <cp:revision>130</cp:revision>
  <dcterms:created xsi:type="dcterms:W3CDTF">2024-12-24T05:07:50Z</dcterms:created>
  <dcterms:modified xsi:type="dcterms:W3CDTF">2024-12-24T05:07:50Z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C2B20FF2D00B49689711AEFFB210F5A2_12</vt:lpwstr>
  </property>
  <property fmtid="{D5CDD505-2E9C-101B-9397-08002B2CF9AE}" pid="3" name="KSOProductBuildVer">
    <vt:lpwstr>2052-12.8.2.18605</vt:lpwstr>
  </property>
</Properties>
</file>